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7D35EF-64A2-C14A-A132-C528EFC1C584}" v="18" dt="2025-11-22T09:47:16.3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7"/>
  </p:normalViewPr>
  <p:slideViewPr>
    <p:cSldViewPr snapToGrid="0">
      <p:cViewPr varScale="1">
        <p:scale>
          <a:sx n="131" d="100"/>
          <a:sy n="131" d="100"/>
        </p:scale>
        <p:origin x="16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2EF82-4E59-040C-F0D3-3BF1AB90B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674F43-EF0E-F3C6-A235-8D4F8573E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F7EF-9DFA-6FF2-F305-BA0BD49C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50F3D-A179-27D0-0BBE-98F5AEB8F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D3B3C-C2BB-022A-A19F-DB086A3AA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51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7B92-7D69-5FDE-562D-21A2083A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2E0B-EEE4-CBE6-F115-9686F17A0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5BE71-94A2-D3F2-A9B5-43AD952B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4864-B084-C456-FE67-CC5B21B45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A0315-E082-EB3A-B6E2-54C51B6A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40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831B6-81B2-4B6E-7B01-A6DA8C3EC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44E6E-A993-BE85-6A52-E7F9D9FC6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43B24-E828-A1A7-07B5-A65A61323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D4731-4B7C-3B82-3069-7C7556F32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4891D-2914-9F48-8989-1ED2ADD1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23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FBAA7-ABBF-1A12-44C2-FAD8B5F0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68078-0C6B-AA61-9739-8E9130FA6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D20D5-FEF6-79EE-8E6B-C3AEAF73C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D33FC-1D23-E2B9-6AD5-8441EA8D7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9A751-386D-CB2F-809E-73D0AC356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22015-DE5F-0979-CB55-06AE0BD4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3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08940-1E57-DFC9-BA5E-7B8387BA9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D9845-9FDA-EB87-C2FE-6E902C172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2C1CF-996F-5A44-ECD1-B3750703A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B7CBC-CB72-D50F-3C96-0266D93675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55CFB7-C5C7-9FC7-2F20-85C7D48F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DD189C-A9CE-28AE-3FDE-04BFD3A9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C6FEA-3260-A108-C5B3-AD6D3A92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2BA9A4-A79C-FA2B-853C-E0608EDE8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1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0076-DF76-C79F-5F73-7F981FFE0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748377-2176-946D-8640-FF8DE6FC4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618FB2-9B8C-FEC8-6295-84C8F02E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C1363E-802C-0CF3-C188-082FF333A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2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8C26B7-0300-DDD5-40FA-5A1F57B40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D5FCB-563B-AA29-3C21-9E013AFE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D939F-D02A-D496-1DED-64E635D0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15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922D-D800-DF17-5F39-BF83C7CD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B181C-F1F5-16A3-A4D9-BFE10DCFE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2196E-448D-4C32-C3D4-AEB8514F4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D6764B-F0F6-7EA6-746C-4481DAEA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70B6BE-AD29-CB85-8DE1-5186EE64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D7039-5824-769E-C377-89947A430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68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A27A-16B6-41DD-53B9-68B8055FF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5CC7A6-AC68-0BB5-9822-B0ECEC307D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6B705-AD18-5BFF-F98E-F005138C7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942B2-F7AA-E08B-3905-F4A646260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11DA5-9ADB-318C-3187-A67655429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0FEE6-F3A5-31D4-A2B2-548CF43F4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2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64F51-C7E8-A156-B7CD-5E47175EA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DFB270-37FE-E410-E8CE-5FB0FFE33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9681C-011A-0343-F3F4-ABD2183E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A5C0E-B7E0-BCA5-483B-F94B06A78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80A3B-802A-78EF-038E-376B5BB1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209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4465A8-9A6A-9175-4957-378B15F21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F4801-8D7D-EB3D-A68B-19971DE9E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E839B2-CE38-7A4A-8F03-4408DCC20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0D8D-11DB-FCE6-E664-9C0A4404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1095-7955-8F4F-6201-0297CB2F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4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8BDEB-B48B-6197-BD86-96B1E6AD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79D92-A6BE-7D78-B192-D6B0CBE1C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75801-1A33-04A0-2974-038C1D5438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0FD97-2301-234B-A964-44B3DDD1227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7A32-F5F2-313B-20D5-BF41630D1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3C00E-EB65-87E0-64FC-C6364CDFB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C2165-7048-0442-A5CB-C51B157F25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16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E9EF-ADA2-3876-D782-558B76263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Salesforce Transformation Proposal for ACME Manufacturing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89467A-E0BD-EB93-64E3-30922DB716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Sales &amp; Service Cloud Implementation</a:t>
            </a:r>
          </a:p>
          <a:p>
            <a:r>
              <a:rPr lang="en-US" dirty="0"/>
              <a:t>Presented by: Cloobot Consulting</a:t>
            </a:r>
          </a:p>
          <a:p>
            <a:r>
              <a:rPr lang="en-US" dirty="0"/>
              <a:t>Date: 21 November 2025</a:t>
            </a:r>
          </a:p>
        </p:txBody>
      </p:sp>
    </p:spTree>
    <p:extLst>
      <p:ext uri="{BB962C8B-B14F-4D97-AF65-F5344CB8AC3E}">
        <p14:creationId xmlns:p14="http://schemas.microsoft.com/office/powerpoint/2010/main" val="1225058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5D25-4BE8-C501-4027-7A01E4E1F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ACME Manufacturing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BD9ED1-62E1-84EB-6BB9-096B5D7F9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Global industrial equipment manufacturer with operations in US, EMEA and APAC.</a:t>
            </a:r>
          </a:p>
          <a:p>
            <a:r>
              <a:rPr lang="en-US" dirty="0"/>
              <a:t>- Complex, project-based sales cycles with distributors and direct customers.</a:t>
            </a:r>
          </a:p>
          <a:p>
            <a:r>
              <a:rPr lang="en-US" dirty="0"/>
              <a:t>- Multiple legacy CRMs and spreadsheets used across regions.</a:t>
            </a:r>
          </a:p>
          <a:p>
            <a:r>
              <a:rPr lang="en-US" dirty="0"/>
              <a:t>- Strategic goal: unify customer view and standardize sales &amp; service processes.</a:t>
            </a:r>
          </a:p>
        </p:txBody>
      </p:sp>
    </p:spTree>
    <p:extLst>
      <p:ext uri="{BB962C8B-B14F-4D97-AF65-F5344CB8AC3E}">
        <p14:creationId xmlns:p14="http://schemas.microsoft.com/office/powerpoint/2010/main" val="18999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45A61-F7F8-B7E9-6633-431AB0396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EE1DD-7126-0CB3-B219-9250B58C0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Fragmented customer data across three CRM tools and local spreadsheets.</a:t>
            </a:r>
          </a:p>
          <a:p>
            <a:r>
              <a:rPr lang="en-US" dirty="0"/>
              <a:t>- Manual lead assignment causing delayed follow-up and lost opportunities.</a:t>
            </a:r>
          </a:p>
          <a:p>
            <a:r>
              <a:rPr lang="en-US" dirty="0"/>
              <a:t>- Limited visibility into pipeline, forecast accuracy and win/loss reasons.</a:t>
            </a:r>
          </a:p>
          <a:p>
            <a:r>
              <a:rPr lang="en-US" dirty="0"/>
              <a:t>- Service teams lack a consolidated view of customer issues and SLAs.</a:t>
            </a:r>
          </a:p>
          <a:p>
            <a:r>
              <a:rPr lang="en-US" dirty="0"/>
              <a:t>- Heavy reliance on IT to generate reports.</a:t>
            </a:r>
          </a:p>
        </p:txBody>
      </p:sp>
    </p:spTree>
    <p:extLst>
      <p:ext uri="{BB962C8B-B14F-4D97-AF65-F5344CB8AC3E}">
        <p14:creationId xmlns:p14="http://schemas.microsoft.com/office/powerpoint/2010/main" val="328287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62F9D-FB4E-C4EA-AFD9-12A7E9408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Salesforce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66EC5-25A7-6E87-B2C0-36AD063A5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Implement Salesforce Sales Cloud for standardized lead-to-order flow.</a:t>
            </a:r>
          </a:p>
          <a:p>
            <a:r>
              <a:rPr lang="en-US" dirty="0"/>
              <a:t>- Implement Service Cloud for case and SLA management.</a:t>
            </a:r>
          </a:p>
          <a:p>
            <a:r>
              <a:rPr lang="en-US" dirty="0"/>
              <a:t>- Single global data model for Accounts, Contacts, Opportunities and Cases.</a:t>
            </a:r>
          </a:p>
          <a:p>
            <a:r>
              <a:rPr lang="en-US" dirty="0"/>
              <a:t>- Integrate Salesforce with ERP for orders, invoices and product data.</a:t>
            </a:r>
          </a:p>
          <a:p>
            <a:r>
              <a:rPr lang="en-US" dirty="0"/>
              <a:t>- Phase-based rollout: Pilot (US) → Global scale (EMEA, APAC).</a:t>
            </a:r>
          </a:p>
        </p:txBody>
      </p:sp>
    </p:spTree>
    <p:extLst>
      <p:ext uri="{BB962C8B-B14F-4D97-AF65-F5344CB8AC3E}">
        <p14:creationId xmlns:p14="http://schemas.microsoft.com/office/powerpoint/2010/main" val="253745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BCE2-8EA6-19FD-5D9C-9C4A3BB45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Business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F22CA-3BC7-E43B-6B79-3AFA983E51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- 360° view of customer interactions across sales and service.</a:t>
            </a:r>
          </a:p>
          <a:p>
            <a:r>
              <a:rPr lang="en-US" dirty="0"/>
              <a:t>- Faster lead follow-up and improved conversion rates.</a:t>
            </a:r>
          </a:p>
          <a:p>
            <a:r>
              <a:rPr lang="en-US" dirty="0"/>
              <a:t>- Standardized opportunity stages and pipeline visibility for leadership.</a:t>
            </a:r>
          </a:p>
          <a:p>
            <a:r>
              <a:rPr lang="en-US" dirty="0"/>
              <a:t>- Improved SLA adherence and reduced case resolution time.</a:t>
            </a:r>
          </a:p>
          <a:p>
            <a:r>
              <a:rPr lang="en-US" dirty="0"/>
              <a:t>- Foundation for future CPQ and customer communities.</a:t>
            </a:r>
          </a:p>
        </p:txBody>
      </p:sp>
    </p:spTree>
    <p:extLst>
      <p:ext uri="{BB962C8B-B14F-4D97-AF65-F5344CB8AC3E}">
        <p14:creationId xmlns:p14="http://schemas.microsoft.com/office/powerpoint/2010/main" val="2072652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3E355-C6BE-DA79-DA59-18CAB0AC7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B379-DD4B-D459-5FFC-282F1F5C1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Phase 1: Discovery &amp; Design (4 weeks).</a:t>
            </a:r>
          </a:p>
          <a:p>
            <a:r>
              <a:rPr lang="en-US" dirty="0"/>
              <a:t>- Phase 2: Build &amp; Integrations (8 weeks).</a:t>
            </a:r>
          </a:p>
          <a:p>
            <a:r>
              <a:rPr lang="en-US" dirty="0"/>
              <a:t>- Phase 3: Data Migration &amp; UAT (4 weeks).</a:t>
            </a:r>
          </a:p>
          <a:p>
            <a:r>
              <a:rPr lang="en-US" dirty="0"/>
              <a:t>- Phase 4: Go-Live &amp; Hypercare (2 weeks).</a:t>
            </a:r>
          </a:p>
          <a:p>
            <a:r>
              <a:rPr lang="en-US" dirty="0"/>
              <a:t>- Agile, sprint-based delivery with weekly demos.</a:t>
            </a:r>
          </a:p>
        </p:txBody>
      </p:sp>
    </p:spTree>
    <p:extLst>
      <p:ext uri="{BB962C8B-B14F-4D97-AF65-F5344CB8AC3E}">
        <p14:creationId xmlns:p14="http://schemas.microsoft.com/office/powerpoint/2010/main" val="640783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B810-47CC-982A-34CE-00B16B40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Delivery Team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CDC73-DBCD-952A-97E9-CCE46412D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Engagement Director – Executive sponsor and steering.</a:t>
            </a:r>
          </a:p>
          <a:p>
            <a:r>
              <a:rPr lang="en-US" dirty="0"/>
              <a:t>- Project Manager – Day-to-day coordination and status.</a:t>
            </a:r>
          </a:p>
          <a:p>
            <a:r>
              <a:rPr lang="en-US" dirty="0"/>
              <a:t>- Solution Architect – End-to-end Salesforce design.</a:t>
            </a:r>
          </a:p>
          <a:p>
            <a:r>
              <a:rPr lang="en-US" dirty="0"/>
              <a:t>- Business Analyst – Requirements and process alignment.</a:t>
            </a:r>
          </a:p>
          <a:p>
            <a:r>
              <a:rPr lang="en-US" dirty="0"/>
              <a:t>- Salesforce Developers – Configuration and custom development.</a:t>
            </a:r>
          </a:p>
          <a:p>
            <a:r>
              <a:rPr lang="en-US" dirty="0"/>
              <a:t>- QA Engineer – Test planning and execution.</a:t>
            </a:r>
          </a:p>
        </p:txBody>
      </p:sp>
    </p:spTree>
    <p:extLst>
      <p:ext uri="{BB962C8B-B14F-4D97-AF65-F5344CB8AC3E}">
        <p14:creationId xmlns:p14="http://schemas.microsoft.com/office/powerpoint/2010/main" val="1997368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E8D1-2E2D-40A2-ED53-849DF332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0ACC3-306D-DDE6-9DBC-52263DF8B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Estimated effort: ~1,000–1,100 hours.</a:t>
            </a:r>
          </a:p>
          <a:p>
            <a:r>
              <a:rPr lang="en-US" dirty="0"/>
              <a:t>- Blended rate: ~95 USD/hour.</a:t>
            </a:r>
          </a:p>
          <a:p>
            <a:r>
              <a:rPr lang="en-US" dirty="0"/>
              <a:t>- Services fee: ~100–105k USD (excluding licenses and third-party tools).</a:t>
            </a:r>
          </a:p>
          <a:p>
            <a:r>
              <a:rPr lang="en-US" dirty="0"/>
              <a:t>- Detailed line-item pricing available in the accompanying SOW.</a:t>
            </a:r>
          </a:p>
        </p:txBody>
      </p:sp>
    </p:spTree>
    <p:extLst>
      <p:ext uri="{BB962C8B-B14F-4D97-AF65-F5344CB8AC3E}">
        <p14:creationId xmlns:p14="http://schemas.microsoft.com/office/powerpoint/2010/main" val="347367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D867-B51D-E3AA-1865-B6C24CA63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8C3EF-E711-FC9C-6A01-BB1989F8E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Confirm scope and assumptions.</a:t>
            </a:r>
          </a:p>
          <a:p>
            <a:r>
              <a:rPr lang="en-US" dirty="0"/>
              <a:t>- Approve proposal and SOW.</a:t>
            </a:r>
          </a:p>
          <a:p>
            <a:r>
              <a:rPr lang="en-US" dirty="0"/>
              <a:t>- Schedule joint discovery workshops.</a:t>
            </a:r>
          </a:p>
          <a:p>
            <a:r>
              <a:rPr lang="en-US" dirty="0"/>
              <a:t>- Provision Salesforce sandbox and integration endpoints.</a:t>
            </a:r>
          </a:p>
          <a:p>
            <a:r>
              <a:rPr lang="en-US"/>
              <a:t>- Kickoff meeting with ACME stakeholders.</a:t>
            </a:r>
          </a:p>
        </p:txBody>
      </p:sp>
    </p:spTree>
    <p:extLst>
      <p:ext uri="{BB962C8B-B14F-4D97-AF65-F5344CB8AC3E}">
        <p14:creationId xmlns:p14="http://schemas.microsoft.com/office/powerpoint/2010/main" val="290993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445</Words>
  <Application>Microsoft Macintosh PowerPoint</Application>
  <PresentationFormat>Widescreen</PresentationFormat>
  <Paragraphs>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Salesforce Transformation Proposal for ACME Manufacturing</vt:lpstr>
      <vt:lpstr>About ACME Manufacturing</vt:lpstr>
      <vt:lpstr>Current Challenges</vt:lpstr>
      <vt:lpstr>Proposed Salesforce Solution</vt:lpstr>
      <vt:lpstr>Expected Business Outcomes</vt:lpstr>
      <vt:lpstr>Implementation Approach</vt:lpstr>
      <vt:lpstr>Proposed Delivery Team</vt:lpstr>
      <vt:lpstr>Commercial Summary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Tejasvin Srinivasan</dc:creator>
  <cp:lastModifiedBy>Tejasvin Srinivasan</cp:lastModifiedBy>
  <cp:revision>2</cp:revision>
  <dcterms:created xsi:type="dcterms:W3CDTF">2025-11-22T09:45:03Z</dcterms:created>
  <dcterms:modified xsi:type="dcterms:W3CDTF">2025-11-22T09:47:33Z</dcterms:modified>
</cp:coreProperties>
</file>